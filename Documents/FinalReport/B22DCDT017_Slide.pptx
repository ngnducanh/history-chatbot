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31" Type="http://schemas.openxmlformats.org/officeDocument/2006/relationships/image" Target="../media/image29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Relationship Id="rId30" Type="http://schemas.openxmlformats.org/officeDocument/2006/relationships/image" Target="../media/image28.svg"/><Relationship Id="rId8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4.svg"/><Relationship Id="rId7" Type="http://schemas.openxmlformats.org/officeDocument/2006/relationships/image" Target="../media/image24.sv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11" Type="http://schemas.openxmlformats.org/officeDocument/2006/relationships/image" Target="../media/image34.png"/><Relationship Id="rId5" Type="http://schemas.openxmlformats.org/officeDocument/2006/relationships/image" Target="../media/image33.svg"/><Relationship Id="rId10" Type="http://schemas.openxmlformats.org/officeDocument/2006/relationships/image" Target="../media/image29.svg"/><Relationship Id="rId4" Type="http://schemas.openxmlformats.org/officeDocument/2006/relationships/image" Target="../media/image32.svg"/><Relationship Id="rId9" Type="http://schemas.openxmlformats.org/officeDocument/2006/relationships/image" Target="../media/image2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5D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53846" y="660572"/>
            <a:ext cx="1283952" cy="1055594"/>
          </a:xfrm>
          <a:custGeom>
            <a:avLst/>
            <a:gdLst/>
            <a:ahLst/>
            <a:cxnLst/>
            <a:rect l="l" t="t" r="r" b="b"/>
            <a:pathLst>
              <a:path w="1283952" h="1055594">
                <a:moveTo>
                  <a:pt x="0" y="0"/>
                </a:moveTo>
                <a:lnTo>
                  <a:pt x="1283952" y="0"/>
                </a:lnTo>
                <a:lnTo>
                  <a:pt x="1283952" y="1055594"/>
                </a:lnTo>
                <a:lnTo>
                  <a:pt x="0" y="1055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78038" y="1284848"/>
            <a:ext cx="710120" cy="653834"/>
          </a:xfrm>
          <a:custGeom>
            <a:avLst/>
            <a:gdLst/>
            <a:ahLst/>
            <a:cxnLst/>
            <a:rect l="l" t="t" r="r" b="b"/>
            <a:pathLst>
              <a:path w="710120" h="653834">
                <a:moveTo>
                  <a:pt x="0" y="0"/>
                </a:moveTo>
                <a:lnTo>
                  <a:pt x="710120" y="0"/>
                </a:lnTo>
                <a:lnTo>
                  <a:pt x="710120" y="653834"/>
                </a:lnTo>
                <a:lnTo>
                  <a:pt x="0" y="6538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066404" y="738928"/>
            <a:ext cx="390144" cy="320820"/>
          </a:xfrm>
          <a:custGeom>
            <a:avLst/>
            <a:gdLst/>
            <a:ahLst/>
            <a:cxnLst/>
            <a:rect l="l" t="t" r="r" b="b"/>
            <a:pathLst>
              <a:path w="390144" h="320820">
                <a:moveTo>
                  <a:pt x="0" y="0"/>
                </a:moveTo>
                <a:lnTo>
                  <a:pt x="390144" y="0"/>
                </a:lnTo>
                <a:lnTo>
                  <a:pt x="390144" y="320820"/>
                </a:lnTo>
                <a:lnTo>
                  <a:pt x="0" y="3208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37910" y="467414"/>
            <a:ext cx="857434" cy="599804"/>
          </a:xfrm>
          <a:custGeom>
            <a:avLst/>
            <a:gdLst/>
            <a:ahLst/>
            <a:cxnLst/>
            <a:rect l="l" t="t" r="r" b="b"/>
            <a:pathLst>
              <a:path w="857434" h="599804">
                <a:moveTo>
                  <a:pt x="0" y="0"/>
                </a:moveTo>
                <a:lnTo>
                  <a:pt x="857434" y="0"/>
                </a:lnTo>
                <a:lnTo>
                  <a:pt x="857434" y="599804"/>
                </a:lnTo>
                <a:lnTo>
                  <a:pt x="0" y="5998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10554" y="352846"/>
            <a:ext cx="760158" cy="555384"/>
          </a:xfrm>
          <a:custGeom>
            <a:avLst/>
            <a:gdLst/>
            <a:ahLst/>
            <a:cxnLst/>
            <a:rect l="l" t="t" r="r" b="b"/>
            <a:pathLst>
              <a:path w="760158" h="555384">
                <a:moveTo>
                  <a:pt x="0" y="0"/>
                </a:moveTo>
                <a:lnTo>
                  <a:pt x="760158" y="0"/>
                </a:lnTo>
                <a:lnTo>
                  <a:pt x="760158" y="555384"/>
                </a:lnTo>
                <a:lnTo>
                  <a:pt x="0" y="5553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31276" y="1249386"/>
            <a:ext cx="991792" cy="801076"/>
          </a:xfrm>
          <a:custGeom>
            <a:avLst/>
            <a:gdLst/>
            <a:ahLst/>
            <a:cxnLst/>
            <a:rect l="l" t="t" r="r" b="b"/>
            <a:pathLst>
              <a:path w="991792" h="801076">
                <a:moveTo>
                  <a:pt x="0" y="0"/>
                </a:moveTo>
                <a:lnTo>
                  <a:pt x="991792" y="0"/>
                </a:lnTo>
                <a:lnTo>
                  <a:pt x="991792" y="801076"/>
                </a:lnTo>
                <a:lnTo>
                  <a:pt x="0" y="8010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584922" y="457220"/>
            <a:ext cx="119846" cy="211800"/>
          </a:xfrm>
          <a:custGeom>
            <a:avLst/>
            <a:gdLst/>
            <a:ahLst/>
            <a:cxnLst/>
            <a:rect l="l" t="t" r="r" b="b"/>
            <a:pathLst>
              <a:path w="119846" h="211800">
                <a:moveTo>
                  <a:pt x="0" y="0"/>
                </a:moveTo>
                <a:lnTo>
                  <a:pt x="119846" y="0"/>
                </a:lnTo>
                <a:lnTo>
                  <a:pt x="119846" y="211800"/>
                </a:lnTo>
                <a:lnTo>
                  <a:pt x="0" y="211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643002" y="840700"/>
            <a:ext cx="64392" cy="188598"/>
          </a:xfrm>
          <a:custGeom>
            <a:avLst/>
            <a:gdLst/>
            <a:ahLst/>
            <a:cxnLst/>
            <a:rect l="l" t="t" r="r" b="b"/>
            <a:pathLst>
              <a:path w="64392" h="188598">
                <a:moveTo>
                  <a:pt x="0" y="0"/>
                </a:moveTo>
                <a:lnTo>
                  <a:pt x="64392" y="0"/>
                </a:lnTo>
                <a:lnTo>
                  <a:pt x="64392" y="188598"/>
                </a:lnTo>
                <a:lnTo>
                  <a:pt x="0" y="1885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473512" y="1124790"/>
            <a:ext cx="152388" cy="169846"/>
          </a:xfrm>
          <a:custGeom>
            <a:avLst/>
            <a:gdLst/>
            <a:ahLst/>
            <a:cxnLst/>
            <a:rect l="l" t="t" r="r" b="b"/>
            <a:pathLst>
              <a:path w="152388" h="169846">
                <a:moveTo>
                  <a:pt x="0" y="0"/>
                </a:moveTo>
                <a:lnTo>
                  <a:pt x="152388" y="0"/>
                </a:lnTo>
                <a:lnTo>
                  <a:pt x="152388" y="169846"/>
                </a:lnTo>
                <a:lnTo>
                  <a:pt x="0" y="169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393106" y="2081862"/>
            <a:ext cx="167954" cy="163668"/>
          </a:xfrm>
          <a:custGeom>
            <a:avLst/>
            <a:gdLst/>
            <a:ahLst/>
            <a:cxnLst/>
            <a:rect l="l" t="t" r="r" b="b"/>
            <a:pathLst>
              <a:path w="167954" h="163668">
                <a:moveTo>
                  <a:pt x="0" y="0"/>
                </a:moveTo>
                <a:lnTo>
                  <a:pt x="167954" y="0"/>
                </a:lnTo>
                <a:lnTo>
                  <a:pt x="167954" y="163668"/>
                </a:lnTo>
                <a:lnTo>
                  <a:pt x="0" y="163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14658" y="2433454"/>
            <a:ext cx="199968" cy="204380"/>
          </a:xfrm>
          <a:custGeom>
            <a:avLst/>
            <a:gdLst/>
            <a:ahLst/>
            <a:cxnLst/>
            <a:rect l="l" t="t" r="r" b="b"/>
            <a:pathLst>
              <a:path w="199968" h="204380">
                <a:moveTo>
                  <a:pt x="0" y="0"/>
                </a:moveTo>
                <a:lnTo>
                  <a:pt x="199968" y="0"/>
                </a:lnTo>
                <a:lnTo>
                  <a:pt x="199968" y="204380"/>
                </a:lnTo>
                <a:lnTo>
                  <a:pt x="0" y="2043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798530" y="2777606"/>
            <a:ext cx="145914" cy="209194"/>
          </a:xfrm>
          <a:custGeom>
            <a:avLst/>
            <a:gdLst/>
            <a:ahLst/>
            <a:cxnLst/>
            <a:rect l="l" t="t" r="r" b="b"/>
            <a:pathLst>
              <a:path w="145914" h="209194">
                <a:moveTo>
                  <a:pt x="0" y="0"/>
                </a:moveTo>
                <a:lnTo>
                  <a:pt x="145914" y="0"/>
                </a:lnTo>
                <a:lnTo>
                  <a:pt x="145914" y="209194"/>
                </a:lnTo>
                <a:lnTo>
                  <a:pt x="0" y="2091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781070" y="3071624"/>
            <a:ext cx="73484" cy="161182"/>
          </a:xfrm>
          <a:custGeom>
            <a:avLst/>
            <a:gdLst/>
            <a:ahLst/>
            <a:cxnLst/>
            <a:rect l="l" t="t" r="r" b="b"/>
            <a:pathLst>
              <a:path w="73484" h="161182">
                <a:moveTo>
                  <a:pt x="0" y="0"/>
                </a:moveTo>
                <a:lnTo>
                  <a:pt x="73484" y="0"/>
                </a:lnTo>
                <a:lnTo>
                  <a:pt x="73484" y="161182"/>
                </a:lnTo>
                <a:lnTo>
                  <a:pt x="0" y="161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7847608" y="9308346"/>
            <a:ext cx="2578440" cy="1140754"/>
          </a:xfrm>
          <a:custGeom>
            <a:avLst/>
            <a:gdLst/>
            <a:ahLst/>
            <a:cxnLst/>
            <a:rect l="l" t="t" r="r" b="b"/>
            <a:pathLst>
              <a:path w="2578440" h="1140754">
                <a:moveTo>
                  <a:pt x="0" y="0"/>
                </a:moveTo>
                <a:lnTo>
                  <a:pt x="2578440" y="0"/>
                </a:lnTo>
                <a:lnTo>
                  <a:pt x="2578440" y="1140754"/>
                </a:lnTo>
                <a:lnTo>
                  <a:pt x="0" y="11407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5690642" y="9024376"/>
            <a:ext cx="1596622" cy="1066828"/>
          </a:xfrm>
          <a:custGeom>
            <a:avLst/>
            <a:gdLst/>
            <a:ahLst/>
            <a:cxnLst/>
            <a:rect l="l" t="t" r="r" b="b"/>
            <a:pathLst>
              <a:path w="1596622" h="1066828">
                <a:moveTo>
                  <a:pt x="0" y="0"/>
                </a:moveTo>
                <a:lnTo>
                  <a:pt x="1596622" y="0"/>
                </a:lnTo>
                <a:lnTo>
                  <a:pt x="1596622" y="1066828"/>
                </a:lnTo>
                <a:lnTo>
                  <a:pt x="0" y="10668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0472666" y="8828300"/>
            <a:ext cx="1183884" cy="1090500"/>
          </a:xfrm>
          <a:custGeom>
            <a:avLst/>
            <a:gdLst/>
            <a:ahLst/>
            <a:cxnLst/>
            <a:rect l="l" t="t" r="r" b="b"/>
            <a:pathLst>
              <a:path w="1183884" h="1090500">
                <a:moveTo>
                  <a:pt x="0" y="0"/>
                </a:moveTo>
                <a:lnTo>
                  <a:pt x="1183884" y="0"/>
                </a:lnTo>
                <a:lnTo>
                  <a:pt x="1183884" y="1090500"/>
                </a:lnTo>
                <a:lnTo>
                  <a:pt x="0" y="1090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6677814" y="9330530"/>
            <a:ext cx="1385384" cy="944727"/>
          </a:xfrm>
          <a:custGeom>
            <a:avLst/>
            <a:gdLst/>
            <a:ahLst/>
            <a:cxnLst/>
            <a:rect l="l" t="t" r="r" b="b"/>
            <a:pathLst>
              <a:path w="1385384" h="944727">
                <a:moveTo>
                  <a:pt x="0" y="0"/>
                </a:moveTo>
                <a:lnTo>
                  <a:pt x="1385384" y="0"/>
                </a:lnTo>
                <a:lnTo>
                  <a:pt x="1385384" y="944728"/>
                </a:lnTo>
                <a:lnTo>
                  <a:pt x="0" y="944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-266010" y="9548460"/>
            <a:ext cx="1210456" cy="900640"/>
          </a:xfrm>
          <a:custGeom>
            <a:avLst/>
            <a:gdLst/>
            <a:ahLst/>
            <a:cxnLst/>
            <a:rect l="l" t="t" r="r" b="b"/>
            <a:pathLst>
              <a:path w="1210456" h="900640">
                <a:moveTo>
                  <a:pt x="0" y="0"/>
                </a:moveTo>
                <a:lnTo>
                  <a:pt x="1210456" y="0"/>
                </a:lnTo>
                <a:lnTo>
                  <a:pt x="1210456" y="900640"/>
                </a:lnTo>
                <a:lnTo>
                  <a:pt x="0" y="900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7590758" y="9226064"/>
            <a:ext cx="358526" cy="294984"/>
          </a:xfrm>
          <a:custGeom>
            <a:avLst/>
            <a:gdLst/>
            <a:ahLst/>
            <a:cxnLst/>
            <a:rect l="l" t="t" r="r" b="b"/>
            <a:pathLst>
              <a:path w="358526" h="294984">
                <a:moveTo>
                  <a:pt x="0" y="0"/>
                </a:moveTo>
                <a:lnTo>
                  <a:pt x="358526" y="0"/>
                </a:lnTo>
                <a:lnTo>
                  <a:pt x="358526" y="294984"/>
                </a:lnTo>
                <a:lnTo>
                  <a:pt x="0" y="294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7175428" y="8721454"/>
            <a:ext cx="390144" cy="320820"/>
          </a:xfrm>
          <a:custGeom>
            <a:avLst/>
            <a:gdLst/>
            <a:ahLst/>
            <a:cxnLst/>
            <a:rect l="l" t="t" r="r" b="b"/>
            <a:pathLst>
              <a:path w="390144" h="320820">
                <a:moveTo>
                  <a:pt x="0" y="0"/>
                </a:moveTo>
                <a:lnTo>
                  <a:pt x="390144" y="0"/>
                </a:lnTo>
                <a:lnTo>
                  <a:pt x="390144" y="320820"/>
                </a:lnTo>
                <a:lnTo>
                  <a:pt x="0" y="3208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7150950" y="3344538"/>
            <a:ext cx="763828" cy="724324"/>
          </a:xfrm>
          <a:custGeom>
            <a:avLst/>
            <a:gdLst/>
            <a:ahLst/>
            <a:cxnLst/>
            <a:rect l="l" t="t" r="r" b="b"/>
            <a:pathLst>
              <a:path w="763828" h="724324">
                <a:moveTo>
                  <a:pt x="0" y="0"/>
                </a:moveTo>
                <a:lnTo>
                  <a:pt x="763828" y="0"/>
                </a:lnTo>
                <a:lnTo>
                  <a:pt x="763828" y="724324"/>
                </a:lnTo>
                <a:lnTo>
                  <a:pt x="0" y="7243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6310188" y="1815862"/>
            <a:ext cx="1587112" cy="1105246"/>
          </a:xfrm>
          <a:custGeom>
            <a:avLst/>
            <a:gdLst/>
            <a:ahLst/>
            <a:cxnLst/>
            <a:rect l="l" t="t" r="r" b="b"/>
            <a:pathLst>
              <a:path w="1587112" h="1105246">
                <a:moveTo>
                  <a:pt x="0" y="0"/>
                </a:moveTo>
                <a:lnTo>
                  <a:pt x="1587112" y="0"/>
                </a:lnTo>
                <a:lnTo>
                  <a:pt x="1587112" y="1105246"/>
                </a:lnTo>
                <a:lnTo>
                  <a:pt x="0" y="11052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5990300" y="537048"/>
            <a:ext cx="1803990" cy="855334"/>
          </a:xfrm>
          <a:custGeom>
            <a:avLst/>
            <a:gdLst/>
            <a:ahLst/>
            <a:cxnLst/>
            <a:rect l="l" t="t" r="r" b="b"/>
            <a:pathLst>
              <a:path w="1803990" h="855334">
                <a:moveTo>
                  <a:pt x="0" y="0"/>
                </a:moveTo>
                <a:lnTo>
                  <a:pt x="1803990" y="0"/>
                </a:lnTo>
                <a:lnTo>
                  <a:pt x="1803990" y="855334"/>
                </a:lnTo>
                <a:lnTo>
                  <a:pt x="0" y="8553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6118670" y="1492158"/>
            <a:ext cx="279486" cy="234514"/>
          </a:xfrm>
          <a:custGeom>
            <a:avLst/>
            <a:gdLst/>
            <a:ahLst/>
            <a:cxnLst/>
            <a:rect l="l" t="t" r="r" b="b"/>
            <a:pathLst>
              <a:path w="279486" h="234514">
                <a:moveTo>
                  <a:pt x="0" y="0"/>
                </a:moveTo>
                <a:lnTo>
                  <a:pt x="279486" y="0"/>
                </a:lnTo>
                <a:lnTo>
                  <a:pt x="279486" y="234514"/>
                </a:lnTo>
                <a:lnTo>
                  <a:pt x="0" y="2345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5752238" y="1386138"/>
            <a:ext cx="236042" cy="79026"/>
          </a:xfrm>
          <a:custGeom>
            <a:avLst/>
            <a:gdLst/>
            <a:ahLst/>
            <a:cxnLst/>
            <a:rect l="l" t="t" r="r" b="b"/>
            <a:pathLst>
              <a:path w="236042" h="79026">
                <a:moveTo>
                  <a:pt x="0" y="0"/>
                </a:moveTo>
                <a:lnTo>
                  <a:pt x="236042" y="0"/>
                </a:lnTo>
                <a:lnTo>
                  <a:pt x="236042" y="79026"/>
                </a:lnTo>
                <a:lnTo>
                  <a:pt x="0" y="790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5345558" y="1253976"/>
            <a:ext cx="220550" cy="105740"/>
          </a:xfrm>
          <a:custGeom>
            <a:avLst/>
            <a:gdLst/>
            <a:ahLst/>
            <a:cxnLst/>
            <a:rect l="l" t="t" r="r" b="b"/>
            <a:pathLst>
              <a:path w="220550" h="105740">
                <a:moveTo>
                  <a:pt x="0" y="0"/>
                </a:moveTo>
                <a:lnTo>
                  <a:pt x="220550" y="0"/>
                </a:lnTo>
                <a:lnTo>
                  <a:pt x="220550" y="105740"/>
                </a:lnTo>
                <a:lnTo>
                  <a:pt x="0" y="105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4727794" y="846736"/>
            <a:ext cx="217200" cy="163416"/>
          </a:xfrm>
          <a:custGeom>
            <a:avLst/>
            <a:gdLst/>
            <a:ahLst/>
            <a:cxnLst/>
            <a:rect l="l" t="t" r="r" b="b"/>
            <a:pathLst>
              <a:path w="217200" h="163416">
                <a:moveTo>
                  <a:pt x="0" y="0"/>
                </a:moveTo>
                <a:lnTo>
                  <a:pt x="217200" y="0"/>
                </a:lnTo>
                <a:lnTo>
                  <a:pt x="217200" y="163416"/>
                </a:lnTo>
                <a:lnTo>
                  <a:pt x="0" y="1634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776838" y="2758556"/>
            <a:ext cx="14719980" cy="2838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63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Xây dựng Chatbot hỏi đáp về lịch sử Việt Nam sử dụng GraphRAG</a:t>
            </a:r>
          </a:p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id="30" name="Freeform 30"/>
          <p:cNvSpPr/>
          <p:nvPr/>
        </p:nvSpPr>
        <p:spPr>
          <a:xfrm>
            <a:off x="17331982" y="3526178"/>
            <a:ext cx="719132" cy="640458"/>
          </a:xfrm>
          <a:custGeom>
            <a:avLst/>
            <a:gdLst/>
            <a:ahLst/>
            <a:cxnLst/>
            <a:rect l="l" t="t" r="r" b="b"/>
            <a:pathLst>
              <a:path w="719132" h="640458">
                <a:moveTo>
                  <a:pt x="0" y="0"/>
                </a:moveTo>
                <a:lnTo>
                  <a:pt x="719132" y="0"/>
                </a:lnTo>
                <a:lnTo>
                  <a:pt x="719132" y="640458"/>
                </a:lnTo>
                <a:lnTo>
                  <a:pt x="0" y="640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913758" y="3362512"/>
            <a:ext cx="175312" cy="210738"/>
          </a:xfrm>
          <a:custGeom>
            <a:avLst/>
            <a:gdLst/>
            <a:ahLst/>
            <a:cxnLst/>
            <a:rect l="l" t="t" r="r" b="b"/>
            <a:pathLst>
              <a:path w="175312" h="210738">
                <a:moveTo>
                  <a:pt x="0" y="0"/>
                </a:moveTo>
                <a:lnTo>
                  <a:pt x="175312" y="0"/>
                </a:lnTo>
                <a:lnTo>
                  <a:pt x="175312" y="210738"/>
                </a:lnTo>
                <a:lnTo>
                  <a:pt x="0" y="2107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4388816" y="540002"/>
            <a:ext cx="185100" cy="184326"/>
          </a:xfrm>
          <a:custGeom>
            <a:avLst/>
            <a:gdLst/>
            <a:ahLst/>
            <a:cxnLst/>
            <a:rect l="l" t="t" r="r" b="b"/>
            <a:pathLst>
              <a:path w="185100" h="184326">
                <a:moveTo>
                  <a:pt x="0" y="0"/>
                </a:moveTo>
                <a:lnTo>
                  <a:pt x="185100" y="0"/>
                </a:lnTo>
                <a:lnTo>
                  <a:pt x="185100" y="184326"/>
                </a:lnTo>
                <a:lnTo>
                  <a:pt x="0" y="1843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782472" y="4532832"/>
            <a:ext cx="3222752" cy="4345582"/>
          </a:xfrm>
          <a:custGeom>
            <a:avLst/>
            <a:gdLst/>
            <a:ahLst/>
            <a:cxnLst/>
            <a:rect l="l" t="t" r="r" b="b"/>
            <a:pathLst>
              <a:path w="3222752" h="4345582">
                <a:moveTo>
                  <a:pt x="0" y="0"/>
                </a:moveTo>
                <a:lnTo>
                  <a:pt x="3222752" y="0"/>
                </a:lnTo>
                <a:lnTo>
                  <a:pt x="3222752" y="4345582"/>
                </a:lnTo>
                <a:lnTo>
                  <a:pt x="0" y="4345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3567750" y="4627296"/>
            <a:ext cx="4212852" cy="4104736"/>
          </a:xfrm>
          <a:custGeom>
            <a:avLst/>
            <a:gdLst/>
            <a:ahLst/>
            <a:cxnLst/>
            <a:rect l="l" t="t" r="r" b="b"/>
            <a:pathLst>
              <a:path w="4212852" h="4104736">
                <a:moveTo>
                  <a:pt x="0" y="0"/>
                </a:moveTo>
                <a:lnTo>
                  <a:pt x="4212852" y="0"/>
                </a:lnTo>
                <a:lnTo>
                  <a:pt x="4212852" y="4104736"/>
                </a:lnTo>
                <a:lnTo>
                  <a:pt x="0" y="4104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4950809" y="4829198"/>
            <a:ext cx="8616941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9"/>
              </a:lnSpc>
            </a:pPr>
            <a:endParaRPr/>
          </a:p>
          <a:p>
            <a:pPr algn="l">
              <a:lnSpc>
                <a:spcPts val="4919"/>
              </a:lnSpc>
            </a:pPr>
            <a:r>
              <a:rPr lang="en-US" sz="40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Nguyễn Đức Anh - B22DCDT017</a:t>
            </a:r>
          </a:p>
          <a:p>
            <a:pPr algn="l">
              <a:lnSpc>
                <a:spcPts val="4919"/>
              </a:lnSpc>
            </a:pPr>
            <a:endParaRPr lang="en-US" sz="40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5D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24008" y="9508446"/>
            <a:ext cx="2578440" cy="1140754"/>
          </a:xfrm>
          <a:custGeom>
            <a:avLst/>
            <a:gdLst/>
            <a:ahLst/>
            <a:cxnLst/>
            <a:rect l="l" t="t" r="r" b="b"/>
            <a:pathLst>
              <a:path w="2578440" h="1140754">
                <a:moveTo>
                  <a:pt x="0" y="0"/>
                </a:moveTo>
                <a:lnTo>
                  <a:pt x="2578440" y="0"/>
                </a:lnTo>
                <a:lnTo>
                  <a:pt x="2578440" y="1140754"/>
                </a:lnTo>
                <a:lnTo>
                  <a:pt x="0" y="11407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492413" y="9557125"/>
            <a:ext cx="954754" cy="763016"/>
          </a:xfrm>
          <a:custGeom>
            <a:avLst/>
            <a:gdLst/>
            <a:ahLst/>
            <a:cxnLst/>
            <a:rect l="l" t="t" r="r" b="b"/>
            <a:pathLst>
              <a:path w="954754" h="763016">
                <a:moveTo>
                  <a:pt x="0" y="0"/>
                </a:moveTo>
                <a:lnTo>
                  <a:pt x="954754" y="0"/>
                </a:lnTo>
                <a:lnTo>
                  <a:pt x="954754" y="763016"/>
                </a:lnTo>
                <a:lnTo>
                  <a:pt x="0" y="763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129202" y="9548452"/>
            <a:ext cx="1432048" cy="780322"/>
          </a:xfrm>
          <a:custGeom>
            <a:avLst/>
            <a:gdLst/>
            <a:ahLst/>
            <a:cxnLst/>
            <a:rect l="l" t="t" r="r" b="b"/>
            <a:pathLst>
              <a:path w="1432048" h="780322">
                <a:moveTo>
                  <a:pt x="0" y="0"/>
                </a:moveTo>
                <a:lnTo>
                  <a:pt x="1432048" y="0"/>
                </a:lnTo>
                <a:lnTo>
                  <a:pt x="1432048" y="780322"/>
                </a:lnTo>
                <a:lnTo>
                  <a:pt x="0" y="7803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118670" y="1492158"/>
            <a:ext cx="279486" cy="234514"/>
          </a:xfrm>
          <a:custGeom>
            <a:avLst/>
            <a:gdLst/>
            <a:ahLst/>
            <a:cxnLst/>
            <a:rect l="l" t="t" r="r" b="b"/>
            <a:pathLst>
              <a:path w="279486" h="234514">
                <a:moveTo>
                  <a:pt x="0" y="0"/>
                </a:moveTo>
                <a:lnTo>
                  <a:pt x="279486" y="0"/>
                </a:lnTo>
                <a:lnTo>
                  <a:pt x="279486" y="234514"/>
                </a:lnTo>
                <a:lnTo>
                  <a:pt x="0" y="2345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752238" y="1386138"/>
            <a:ext cx="236042" cy="79026"/>
          </a:xfrm>
          <a:custGeom>
            <a:avLst/>
            <a:gdLst/>
            <a:ahLst/>
            <a:cxnLst/>
            <a:rect l="l" t="t" r="r" b="b"/>
            <a:pathLst>
              <a:path w="236042" h="79026">
                <a:moveTo>
                  <a:pt x="0" y="0"/>
                </a:moveTo>
                <a:lnTo>
                  <a:pt x="236042" y="0"/>
                </a:lnTo>
                <a:lnTo>
                  <a:pt x="236042" y="79026"/>
                </a:lnTo>
                <a:lnTo>
                  <a:pt x="0" y="790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345558" y="1253976"/>
            <a:ext cx="220550" cy="105740"/>
          </a:xfrm>
          <a:custGeom>
            <a:avLst/>
            <a:gdLst/>
            <a:ahLst/>
            <a:cxnLst/>
            <a:rect l="l" t="t" r="r" b="b"/>
            <a:pathLst>
              <a:path w="220550" h="105740">
                <a:moveTo>
                  <a:pt x="0" y="0"/>
                </a:moveTo>
                <a:lnTo>
                  <a:pt x="220550" y="0"/>
                </a:lnTo>
                <a:lnTo>
                  <a:pt x="220550" y="105740"/>
                </a:lnTo>
                <a:lnTo>
                  <a:pt x="0" y="105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727794" y="846736"/>
            <a:ext cx="217200" cy="163416"/>
          </a:xfrm>
          <a:custGeom>
            <a:avLst/>
            <a:gdLst/>
            <a:ahLst/>
            <a:cxnLst/>
            <a:rect l="l" t="t" r="r" b="b"/>
            <a:pathLst>
              <a:path w="217200" h="163416">
                <a:moveTo>
                  <a:pt x="0" y="0"/>
                </a:moveTo>
                <a:lnTo>
                  <a:pt x="217200" y="0"/>
                </a:lnTo>
                <a:lnTo>
                  <a:pt x="217200" y="163416"/>
                </a:lnTo>
                <a:lnTo>
                  <a:pt x="0" y="1634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388816" y="540002"/>
            <a:ext cx="185100" cy="184326"/>
          </a:xfrm>
          <a:custGeom>
            <a:avLst/>
            <a:gdLst/>
            <a:ahLst/>
            <a:cxnLst/>
            <a:rect l="l" t="t" r="r" b="b"/>
            <a:pathLst>
              <a:path w="185100" h="184326">
                <a:moveTo>
                  <a:pt x="0" y="0"/>
                </a:moveTo>
                <a:lnTo>
                  <a:pt x="185100" y="0"/>
                </a:lnTo>
                <a:lnTo>
                  <a:pt x="185100" y="184326"/>
                </a:lnTo>
                <a:lnTo>
                  <a:pt x="0" y="1843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1024862" y="540002"/>
            <a:ext cx="6426764" cy="4425286"/>
          </a:xfrm>
          <a:custGeom>
            <a:avLst/>
            <a:gdLst/>
            <a:ahLst/>
            <a:cxnLst/>
            <a:rect l="l" t="t" r="r" b="b"/>
            <a:pathLst>
              <a:path w="6426764" h="4425286">
                <a:moveTo>
                  <a:pt x="0" y="0"/>
                </a:moveTo>
                <a:lnTo>
                  <a:pt x="6426764" y="0"/>
                </a:lnTo>
                <a:lnTo>
                  <a:pt x="6426764" y="4425286"/>
                </a:lnTo>
                <a:lnTo>
                  <a:pt x="0" y="442528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1041296" y="5212938"/>
            <a:ext cx="6410330" cy="4726809"/>
          </a:xfrm>
          <a:custGeom>
            <a:avLst/>
            <a:gdLst/>
            <a:ahLst/>
            <a:cxnLst/>
            <a:rect l="l" t="t" r="r" b="b"/>
            <a:pathLst>
              <a:path w="6410330" h="4726809">
                <a:moveTo>
                  <a:pt x="0" y="0"/>
                </a:moveTo>
                <a:lnTo>
                  <a:pt x="6410330" y="0"/>
                </a:lnTo>
                <a:lnTo>
                  <a:pt x="6410330" y="4726809"/>
                </a:lnTo>
                <a:lnTo>
                  <a:pt x="0" y="4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384658" y="376122"/>
            <a:ext cx="10365857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1. Graph RAG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4658" y="1527228"/>
            <a:ext cx="9257556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GraphRAG = RAG + Knowledge Graph</a:t>
            </a:r>
          </a:p>
          <a:p>
            <a:pPr algn="l">
              <a:lnSpc>
                <a:spcPts val="4799"/>
              </a:lnSpc>
            </a:pPr>
            <a:endParaRPr lang="en-US" sz="3999" b="1">
              <a:solidFill>
                <a:srgbClr val="FFFFF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84658" y="2446183"/>
            <a:ext cx="10139505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RAG: truy xuất tài liệu liên quan rồi đưa vào LLM để trả lời.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4658" y="3789593"/>
            <a:ext cx="1065663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Knowledge Graph: lưu tri thức dưới dạng thực thể và quan hệ.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4658" y="5170290"/>
            <a:ext cx="9227789" cy="336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35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Lợi ích:</a:t>
            </a:r>
          </a:p>
          <a:p>
            <a:pPr marL="777235" lvl="1" indent="-388618" algn="l">
              <a:lnSpc>
                <a:spcPts val="539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Ngữ cảnh giàu hơn</a:t>
            </a:r>
          </a:p>
          <a:p>
            <a:pPr marL="777235" lvl="1" indent="-388618" algn="l">
              <a:lnSpc>
                <a:spcPts val="539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Cải thiện độ chính xác</a:t>
            </a:r>
          </a:p>
          <a:p>
            <a:pPr marL="777235" lvl="1" indent="-388618" algn="l">
              <a:lnSpc>
                <a:spcPts val="539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Tăng khả năng giải thích</a:t>
            </a:r>
          </a:p>
          <a:p>
            <a:pPr marL="777235" lvl="1" indent="-388618" algn="l">
              <a:lnSpc>
                <a:spcPts val="539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Tăng khả năng suy luận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5D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38047" y="5818486"/>
            <a:ext cx="8186533" cy="4093267"/>
          </a:xfrm>
          <a:custGeom>
            <a:avLst/>
            <a:gdLst/>
            <a:ahLst/>
            <a:cxnLst/>
            <a:rect l="l" t="t" r="r" b="b"/>
            <a:pathLst>
              <a:path w="8186533" h="4093267">
                <a:moveTo>
                  <a:pt x="0" y="0"/>
                </a:moveTo>
                <a:lnTo>
                  <a:pt x="8186534" y="0"/>
                </a:lnTo>
                <a:lnTo>
                  <a:pt x="8186534" y="4093267"/>
                </a:lnTo>
                <a:lnTo>
                  <a:pt x="0" y="4093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76009" y="1376410"/>
            <a:ext cx="17421369" cy="4169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0444" lvl="1" indent="-395222" algn="l">
              <a:lnSpc>
                <a:spcPts val="5491"/>
              </a:lnSpc>
              <a:spcBef>
                <a:spcPct val="0"/>
              </a:spcBef>
              <a:buFont typeface="Arial"/>
              <a:buChar char="•"/>
            </a:pPr>
            <a:r>
              <a:rPr lang="en-US" sz="3661" u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Lịch sử có rất nhiều quan hệ giữa nhân vật, sự kiện, tổ chức, địa danh</a:t>
            </a:r>
          </a:p>
          <a:p>
            <a:pPr marL="790444" lvl="1" indent="-395222" algn="l">
              <a:lnSpc>
                <a:spcPts val="5491"/>
              </a:lnSpc>
              <a:spcBef>
                <a:spcPct val="0"/>
              </a:spcBef>
              <a:buFont typeface="Arial"/>
              <a:buChar char="•"/>
            </a:pPr>
            <a:r>
              <a:rPr lang="en-US" sz="3661" u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Vì vậy đồ thị tri thức biểu diễn các quan hệ trên dưới dạng node và edge</a:t>
            </a:r>
          </a:p>
          <a:p>
            <a:pPr algn="l">
              <a:lnSpc>
                <a:spcPts val="5491"/>
              </a:lnSpc>
              <a:spcBef>
                <a:spcPct val="0"/>
              </a:spcBef>
            </a:pPr>
            <a:r>
              <a:rPr lang="en-US" sz="3661" u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→ Chatbot không chỉ tìm được đoạn văn bản liên quan mà còn hiểu được các mối liên hệ lịch sử</a:t>
            </a:r>
          </a:p>
          <a:p>
            <a:pPr algn="l">
              <a:lnSpc>
                <a:spcPts val="5491"/>
              </a:lnSpc>
            </a:pPr>
            <a:r>
              <a:rPr lang="en-US" sz="3661" u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→ GraphRAG giúp chatbot vừa có ngữ cảnh văn bản, vừa có dữ liệu quan hệ từ Neo4j để trả lời chính xác và có cơ sở hơn.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76009" y="284185"/>
            <a:ext cx="6894265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2. </a:t>
            </a:r>
            <a:r>
              <a:rPr lang="en-US" sz="6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Lí</a:t>
            </a:r>
            <a:r>
              <a:rPr lang="en-US" sz="6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do </a:t>
            </a:r>
            <a:r>
              <a:rPr lang="en-US" sz="6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sử</a:t>
            </a:r>
            <a:r>
              <a:rPr lang="en-US" sz="6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dụng</a:t>
            </a:r>
            <a:r>
              <a:rPr lang="en-US" sz="6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5D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0578" y="404570"/>
            <a:ext cx="17223687" cy="628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endParaRPr/>
          </a:p>
          <a:p>
            <a:pPr marL="712480" lvl="1" indent="-356240" algn="l">
              <a:lnSpc>
                <a:spcPts val="4950"/>
              </a:lnSpc>
              <a:buFont typeface="Arial"/>
              <a:buChar char="•"/>
            </a:pPr>
            <a:r>
              <a:rPr lang="en-US" sz="33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Hybrid GraphRAG = Vector Search + Knowledge Graph + LLM</a:t>
            </a:r>
          </a:p>
          <a:p>
            <a:pPr algn="l">
              <a:lnSpc>
                <a:spcPts val="4950"/>
              </a:lnSpc>
            </a:pPr>
            <a:r>
              <a:rPr lang="en-US" sz="3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1. Người dùng gửi câu hỏi vào hệ thống.</a:t>
            </a:r>
          </a:p>
          <a:p>
            <a:pPr algn="l">
              <a:lnSpc>
                <a:spcPts val="4950"/>
              </a:lnSpc>
            </a:pPr>
            <a:r>
              <a:rPr lang="en-US" sz="3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2. Hệ thống dùng vector search để tìm các node hoặc chunk có nội dung gần với câu hỏi.</a:t>
            </a:r>
          </a:p>
          <a:p>
            <a:pPr algn="l">
              <a:lnSpc>
                <a:spcPts val="4950"/>
              </a:lnSpc>
            </a:pPr>
            <a:r>
              <a:rPr lang="en-US" sz="3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3. Từ các kết quả gần nhất, hệ thống duyệt đồ thị để tìm các thực thể, quan hệ hoặc node liên quan.</a:t>
            </a:r>
          </a:p>
          <a:p>
            <a:pPr algn="l">
              <a:lnSpc>
                <a:spcPts val="4950"/>
              </a:lnSpc>
            </a:pPr>
            <a:r>
              <a:rPr lang="en-US" sz="3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4. Dữ liệu văn bản, thực thể và quan hệ được đưa vào prompt làm ngữ cảnh cho LLM.</a:t>
            </a:r>
          </a:p>
          <a:p>
            <a:pPr algn="l">
              <a:lnSpc>
                <a:spcPts val="4950"/>
              </a:lnSpc>
            </a:pPr>
            <a:r>
              <a:rPr lang="en-US" sz="3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5. Hệ thống có thể chấm điểm hoặc lọc lại dữ liệu liên quan trước khi sinh câu trả lời.</a:t>
            </a:r>
          </a:p>
          <a:p>
            <a:pPr algn="l">
              <a:lnSpc>
                <a:spcPts val="4950"/>
              </a:lnSpc>
            </a:pPr>
            <a:endParaRPr lang="en-US" sz="33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950"/>
              </a:lnSpc>
            </a:pPr>
            <a:endParaRPr lang="en-US" sz="33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5998915" y="5752967"/>
            <a:ext cx="5071164" cy="4327069"/>
          </a:xfrm>
          <a:custGeom>
            <a:avLst/>
            <a:gdLst/>
            <a:ahLst/>
            <a:cxnLst/>
            <a:rect l="l" t="t" r="r" b="b"/>
            <a:pathLst>
              <a:path w="5071164" h="4327069">
                <a:moveTo>
                  <a:pt x="0" y="0"/>
                </a:moveTo>
                <a:lnTo>
                  <a:pt x="5071164" y="0"/>
                </a:lnTo>
                <a:lnTo>
                  <a:pt x="5071164" y="4327069"/>
                </a:lnTo>
                <a:lnTo>
                  <a:pt x="0" y="43270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-121022" y="85725"/>
            <a:ext cx="16172171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algn="l">
              <a:lnSpc>
                <a:spcPts val="7200"/>
              </a:lnSpc>
            </a:pPr>
            <a:r>
              <a:rPr lang="en-US" sz="6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3. Ý </a:t>
            </a:r>
            <a:r>
              <a:rPr lang="en-US" sz="6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Tưởng</a:t>
            </a:r>
            <a:r>
              <a:rPr lang="en-US" sz="6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Giải</a:t>
            </a:r>
            <a:r>
              <a:rPr lang="en-US" sz="6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Pháp Hybrid </a:t>
            </a:r>
            <a:r>
              <a:rPr lang="en-US" sz="6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GraphRAG</a:t>
            </a:r>
            <a:endParaRPr lang="en-US" sz="6000" b="1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5D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59906" y="2215491"/>
            <a:ext cx="7029862" cy="5554787"/>
          </a:xfrm>
          <a:custGeom>
            <a:avLst/>
            <a:gdLst/>
            <a:ahLst/>
            <a:cxnLst/>
            <a:rect l="l" t="t" r="r" b="b"/>
            <a:pathLst>
              <a:path w="7029862" h="5554787">
                <a:moveTo>
                  <a:pt x="0" y="0"/>
                </a:moveTo>
                <a:lnTo>
                  <a:pt x="7029862" y="0"/>
                </a:lnTo>
                <a:lnTo>
                  <a:pt x="7029862" y="5554787"/>
                </a:lnTo>
                <a:lnTo>
                  <a:pt x="0" y="55547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10862" y="1613656"/>
            <a:ext cx="9406750" cy="722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27" lvl="1" indent="-410214" algn="l">
              <a:lnSpc>
                <a:spcPts val="570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Văn bản được chia thành các chunk nhỏ, mỗi chunk khoảng 800 ký tự và có overlap để giữ ngữ cảnh. </a:t>
            </a:r>
          </a:p>
          <a:p>
            <a:pPr marL="820427" lvl="1" indent="-410214" algn="l">
              <a:lnSpc>
                <a:spcPts val="570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Từ các chunk này, hệ thống tạo hai loại dữ liệu: </a:t>
            </a:r>
          </a:p>
          <a:p>
            <a:pPr marL="1640854" lvl="2" indent="-546951" algn="l">
              <a:lnSpc>
                <a:spcPts val="5700"/>
              </a:lnSpc>
              <a:buFont typeface="Arial"/>
              <a:buChar char="⚬"/>
            </a:pPr>
            <a:r>
              <a:rPr lang="en-US" sz="3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Một là embedding để phục vụ tìm kiếm vector </a:t>
            </a:r>
          </a:p>
          <a:p>
            <a:pPr marL="1640854" lvl="2" indent="-546951" algn="l">
              <a:lnSpc>
                <a:spcPts val="5700"/>
              </a:lnSpc>
              <a:buFont typeface="Arial"/>
              <a:buChar char="⚬"/>
            </a:pPr>
            <a:r>
              <a:rPr lang="en-US" sz="3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Hai là node và edge để xây dựng đồ thị tri thức trong Neo4j.</a:t>
            </a:r>
          </a:p>
          <a:p>
            <a:pPr algn="l">
              <a:lnSpc>
                <a:spcPts val="5700"/>
              </a:lnSpc>
            </a:pPr>
            <a:endParaRPr lang="en-US" sz="3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9962" y="254062"/>
            <a:ext cx="10530312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algn="l">
              <a:lnSpc>
                <a:spcPts val="7200"/>
              </a:lnSpc>
            </a:pPr>
            <a:r>
              <a:rPr lang="en-US" sz="6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4. Quy </a:t>
            </a:r>
            <a:r>
              <a:rPr lang="en-US" sz="6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trình</a:t>
            </a:r>
            <a:r>
              <a:rPr lang="en-US" sz="6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xử</a:t>
            </a:r>
            <a:r>
              <a:rPr lang="en-US" sz="6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lí</a:t>
            </a:r>
            <a:r>
              <a:rPr lang="en-US" sz="6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dữ</a:t>
            </a:r>
            <a:r>
              <a:rPr lang="en-US" sz="6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liệu</a:t>
            </a:r>
            <a:endParaRPr lang="en-US" sz="6000" b="1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5D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1193" y="5419725"/>
            <a:ext cx="15465613" cy="3697923"/>
          </a:xfrm>
          <a:custGeom>
            <a:avLst/>
            <a:gdLst/>
            <a:ahLst/>
            <a:cxnLst/>
            <a:rect l="l" t="t" r="r" b="b"/>
            <a:pathLst>
              <a:path w="15465613" h="3697923">
                <a:moveTo>
                  <a:pt x="0" y="0"/>
                </a:moveTo>
                <a:lnTo>
                  <a:pt x="15465614" y="0"/>
                </a:lnTo>
                <a:lnTo>
                  <a:pt x="15465614" y="3697923"/>
                </a:lnTo>
                <a:lnTo>
                  <a:pt x="0" y="3697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-80364" y="1353762"/>
            <a:ext cx="18368364" cy="3790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6" lvl="1" indent="-431803" algn="l">
              <a:lnSpc>
                <a:spcPts val="60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Lớp giao diện</a:t>
            </a:r>
            <a:r>
              <a:rPr lang="en-US" sz="4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: Streamlit trong src/app.py.</a:t>
            </a:r>
          </a:p>
          <a:p>
            <a:pPr marL="863606" lvl="1" indent="-431803" algn="l">
              <a:lnSpc>
                <a:spcPts val="60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Lớp xử lý truy vấn</a:t>
            </a:r>
            <a:r>
              <a:rPr lang="en-US" sz="4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: LangChain, ChatOpenAI, GraphCypherQAChain và prompt tổng hợp.</a:t>
            </a:r>
          </a:p>
          <a:p>
            <a:pPr marL="863606" lvl="1" indent="-431803" algn="l">
              <a:lnSpc>
                <a:spcPts val="60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Lớp truy xuất tri thức</a:t>
            </a:r>
            <a:r>
              <a:rPr lang="en-US" sz="4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: Neo4j Graph và Neo4j Vector Index.</a:t>
            </a:r>
          </a:p>
          <a:p>
            <a:pPr algn="l">
              <a:lnSpc>
                <a:spcPts val="6000"/>
              </a:lnSpc>
            </a:pPr>
            <a:endParaRPr lang="en-US" sz="40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0" y="269124"/>
            <a:ext cx="8105405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algn="l">
              <a:lnSpc>
                <a:spcPts val="7200"/>
              </a:lnSpc>
            </a:pPr>
            <a:r>
              <a:rPr lang="en-US" sz="6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5. </a:t>
            </a:r>
            <a:r>
              <a:rPr lang="en-US" sz="6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Kiến</a:t>
            </a:r>
            <a:r>
              <a:rPr lang="en-US" sz="6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trúc</a:t>
            </a:r>
            <a:r>
              <a:rPr lang="en-US" sz="6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tổng</a:t>
            </a:r>
            <a:r>
              <a:rPr lang="en-US" sz="6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thể</a:t>
            </a:r>
            <a:endParaRPr lang="en-US" sz="6000" b="1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5D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272179" y="2703286"/>
            <a:ext cx="8566119" cy="4880427"/>
          </a:xfrm>
          <a:custGeom>
            <a:avLst/>
            <a:gdLst/>
            <a:ahLst/>
            <a:cxnLst/>
            <a:rect l="l" t="t" r="r" b="b"/>
            <a:pathLst>
              <a:path w="8566119" h="4880427">
                <a:moveTo>
                  <a:pt x="0" y="0"/>
                </a:moveTo>
                <a:lnTo>
                  <a:pt x="8566119" y="0"/>
                </a:lnTo>
                <a:lnTo>
                  <a:pt x="8566119" y="4880428"/>
                </a:lnTo>
                <a:lnTo>
                  <a:pt x="0" y="48804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-181536" y="388740"/>
            <a:ext cx="17440836" cy="782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60" lvl="1" algn="l">
              <a:lnSpc>
                <a:spcPts val="6480"/>
              </a:lnSpc>
            </a:pPr>
            <a:r>
              <a:rPr lang="en-US" sz="54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6. </a:t>
            </a:r>
            <a:r>
              <a:rPr lang="en-US" sz="54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Luồng</a:t>
            </a:r>
            <a:r>
              <a:rPr lang="en-US" sz="54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54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hỏi</a:t>
            </a:r>
            <a:r>
              <a:rPr lang="en-US" sz="54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54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đáp</a:t>
            </a:r>
            <a:r>
              <a:rPr lang="en-US" sz="54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54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của</a:t>
            </a:r>
            <a:r>
              <a:rPr lang="en-US" sz="54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Chatbot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4132" y="1593850"/>
            <a:ext cx="8660011" cy="688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8" lvl="1" indent="-431799" algn="l">
              <a:lnSpc>
                <a:spcPts val="6999"/>
              </a:lnSpc>
              <a:buAutoNum type="arabicPeriod"/>
            </a:pPr>
            <a:r>
              <a:rPr lang="en-US" sz="3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Người dùng nhập câu hỏi.</a:t>
            </a:r>
          </a:p>
          <a:p>
            <a:pPr marL="863598" lvl="1" indent="-431799" algn="l">
              <a:lnSpc>
                <a:spcPts val="6999"/>
              </a:lnSpc>
              <a:buAutoNum type="arabicPeriod"/>
            </a:pPr>
            <a:r>
              <a:rPr lang="en-US" sz="3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Hệ thống xử lý ngữ cảnh hội thoại.</a:t>
            </a:r>
          </a:p>
          <a:p>
            <a:pPr marL="863598" lvl="1" indent="-431799" algn="l">
              <a:lnSpc>
                <a:spcPts val="6999"/>
              </a:lnSpc>
              <a:buAutoNum type="arabicPeriod"/>
            </a:pPr>
            <a:r>
              <a:rPr lang="en-US" sz="3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Tìm kiếm vector trong Neo4j.</a:t>
            </a:r>
          </a:p>
          <a:p>
            <a:pPr marL="863598" lvl="1" indent="-431799" algn="l">
              <a:lnSpc>
                <a:spcPts val="6999"/>
              </a:lnSpc>
              <a:buAutoNum type="arabicPeriod"/>
            </a:pPr>
            <a:r>
              <a:rPr lang="en-US" sz="3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Sinh và chạy truy vấn Cypher.</a:t>
            </a:r>
          </a:p>
          <a:p>
            <a:pPr marL="863598" lvl="1" indent="-431799" algn="l">
              <a:lnSpc>
                <a:spcPts val="6999"/>
              </a:lnSpc>
              <a:buAutoNum type="arabicPeriod"/>
            </a:pPr>
            <a:r>
              <a:rPr lang="en-US" sz="3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Tổng hợp dữ liệu graph + vector.</a:t>
            </a:r>
          </a:p>
          <a:p>
            <a:pPr marL="863598" lvl="1" indent="-431799" algn="l">
              <a:lnSpc>
                <a:spcPts val="6999"/>
              </a:lnSpc>
              <a:buAutoNum type="arabicPeriod"/>
            </a:pPr>
            <a:r>
              <a:rPr lang="en-US" sz="3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Sinh câu trả lời cuối cùng.</a:t>
            </a:r>
          </a:p>
          <a:p>
            <a:pPr marL="863598" lvl="1" indent="-431799" algn="l">
              <a:lnSpc>
                <a:spcPts val="6999"/>
              </a:lnSpc>
              <a:buAutoNum type="arabicPeriod"/>
            </a:pPr>
            <a:r>
              <a:rPr lang="en-US" sz="3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Hiển thị nhật ký truy vấn.</a:t>
            </a:r>
          </a:p>
          <a:p>
            <a:pPr algn="l">
              <a:lnSpc>
                <a:spcPts val="4799"/>
              </a:lnSpc>
            </a:pPr>
            <a:endParaRPr lang="en-US" sz="39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5D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55585" y="647700"/>
            <a:ext cx="7372009" cy="4482520"/>
          </a:xfrm>
          <a:custGeom>
            <a:avLst/>
            <a:gdLst/>
            <a:ahLst/>
            <a:cxnLst/>
            <a:rect l="l" t="t" r="r" b="b"/>
            <a:pathLst>
              <a:path w="7372009" h="4482520">
                <a:moveTo>
                  <a:pt x="0" y="0"/>
                </a:moveTo>
                <a:lnTo>
                  <a:pt x="7372009" y="0"/>
                </a:lnTo>
                <a:lnTo>
                  <a:pt x="7372009" y="4482520"/>
                </a:lnTo>
                <a:lnTo>
                  <a:pt x="0" y="4482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146118" y="5525747"/>
            <a:ext cx="5790942" cy="4356822"/>
          </a:xfrm>
          <a:custGeom>
            <a:avLst/>
            <a:gdLst/>
            <a:ahLst/>
            <a:cxnLst/>
            <a:rect l="l" t="t" r="r" b="b"/>
            <a:pathLst>
              <a:path w="5790942" h="4356822">
                <a:moveTo>
                  <a:pt x="0" y="0"/>
                </a:moveTo>
                <a:lnTo>
                  <a:pt x="5790942" y="0"/>
                </a:lnTo>
                <a:lnTo>
                  <a:pt x="5790942" y="4356821"/>
                </a:lnTo>
                <a:lnTo>
                  <a:pt x="0" y="43568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-181536" y="238125"/>
            <a:ext cx="17440836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81" lvl="1" algn="l">
              <a:lnSpc>
                <a:spcPts val="6000"/>
              </a:lnSpc>
            </a:pPr>
            <a:r>
              <a:rPr lang="en-US" sz="5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7. </a:t>
            </a:r>
            <a:r>
              <a:rPr lang="en-US" sz="5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Hạn</a:t>
            </a:r>
            <a:r>
              <a:rPr lang="en-US" sz="5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chế</a:t>
            </a:r>
            <a:r>
              <a:rPr lang="en-US" sz="5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và</a:t>
            </a:r>
            <a:r>
              <a:rPr lang="en-US" sz="5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hướng</a:t>
            </a:r>
            <a:r>
              <a:rPr lang="en-US" sz="5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phát</a:t>
            </a:r>
            <a:r>
              <a:rPr lang="en-US" sz="5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triển</a:t>
            </a:r>
            <a:endParaRPr lang="en-US" sz="5000" b="1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0" y="1279208"/>
            <a:ext cx="9997492" cy="860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2" lvl="1" indent="-356236" algn="l">
              <a:lnSpc>
                <a:spcPts val="5874"/>
              </a:lnSpc>
              <a:buFont typeface="Arial"/>
              <a:buChar char="•"/>
            </a:pPr>
            <a:r>
              <a:rPr lang="en-US" sz="33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Hạn chế:</a:t>
            </a:r>
          </a:p>
          <a:p>
            <a:pPr marL="1424943" lvl="2" indent="-474981" algn="l">
              <a:lnSpc>
                <a:spcPts val="5874"/>
              </a:lnSpc>
              <a:buFont typeface="Arial"/>
              <a:buChar char="⚬"/>
            </a:pPr>
            <a:r>
              <a:rPr lang="en-US" sz="3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Graph phụ thuộc vào chất lượng AI trích xuất.</a:t>
            </a:r>
          </a:p>
          <a:p>
            <a:pPr marL="1424943" lvl="2" indent="-474981" algn="l">
              <a:lnSpc>
                <a:spcPts val="5874"/>
              </a:lnSpc>
              <a:buFont typeface="Arial"/>
              <a:buChar char="⚬"/>
            </a:pPr>
            <a:r>
              <a:rPr lang="en-US" sz="3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Dữ liệu chỉ giới hạn giai đoạn 1954-1975.</a:t>
            </a:r>
          </a:p>
          <a:p>
            <a:pPr marL="1424943" lvl="2" indent="-474981" algn="l">
              <a:lnSpc>
                <a:spcPts val="5874"/>
              </a:lnSpc>
              <a:buFont typeface="Arial"/>
              <a:buChar char="⚬"/>
            </a:pPr>
            <a:r>
              <a:rPr lang="en-US" sz="3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Quan hệ/thực thể chưa chuẩn hóa hoàn toàn.</a:t>
            </a:r>
          </a:p>
          <a:p>
            <a:pPr marL="1424943" lvl="2" indent="-474981" algn="l">
              <a:lnSpc>
                <a:spcPts val="5874"/>
              </a:lnSpc>
              <a:buFont typeface="Arial"/>
              <a:buChar char="⚬"/>
            </a:pPr>
            <a:r>
              <a:rPr lang="en-US" sz="3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Tốc độ phụ thuộc API.</a:t>
            </a:r>
          </a:p>
          <a:p>
            <a:pPr marL="712472" lvl="1" indent="-356236" algn="l">
              <a:lnSpc>
                <a:spcPts val="5874"/>
              </a:lnSpc>
              <a:buFont typeface="Arial"/>
              <a:buChar char="•"/>
            </a:pPr>
            <a:r>
              <a:rPr lang="en-US" sz="33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Hướng phát triển:</a:t>
            </a:r>
          </a:p>
          <a:p>
            <a:pPr marL="1424943" lvl="2" indent="-474981" algn="l">
              <a:lnSpc>
                <a:spcPts val="5874"/>
              </a:lnSpc>
              <a:buFont typeface="Arial"/>
              <a:buChar char="⚬"/>
            </a:pPr>
            <a:r>
              <a:rPr lang="en-US" sz="3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Mở rộng dữ liệu toàn bộ lịch sử Việt Nam.</a:t>
            </a:r>
          </a:p>
          <a:p>
            <a:pPr marL="1424943" lvl="2" indent="-474981" algn="l">
              <a:lnSpc>
                <a:spcPts val="5874"/>
              </a:lnSpc>
              <a:buFont typeface="Arial"/>
              <a:buChar char="⚬"/>
            </a:pPr>
            <a:r>
              <a:rPr lang="en-US" sz="3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Chuẩn hóa thực thể và quan hệ.</a:t>
            </a:r>
          </a:p>
          <a:p>
            <a:pPr marL="1424943" lvl="2" indent="-474981" algn="l">
              <a:lnSpc>
                <a:spcPts val="5874"/>
              </a:lnSpc>
              <a:buFont typeface="Arial"/>
              <a:buChar char="⚬"/>
            </a:pPr>
            <a:r>
              <a:rPr lang="en-US" sz="3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Thêm bộ câu hỏi kiểm thử chuẩn.</a:t>
            </a:r>
          </a:p>
          <a:p>
            <a:pPr marL="1424943" lvl="2" indent="-474981" algn="l">
              <a:lnSpc>
                <a:spcPts val="5874"/>
              </a:lnSpc>
              <a:buFont typeface="Arial"/>
              <a:buChar char="⚬"/>
            </a:pPr>
            <a:r>
              <a:rPr lang="en-US" sz="3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Thêm giao diện để upload dữ liệu</a:t>
            </a:r>
          </a:p>
          <a:p>
            <a:pPr algn="l">
              <a:lnSpc>
                <a:spcPts val="4500"/>
              </a:lnSpc>
            </a:pPr>
            <a:endParaRPr lang="en-US" sz="33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500"/>
              </a:lnSpc>
            </a:pPr>
            <a:endParaRPr lang="en-US" sz="33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569</Words>
  <Application>Microsoft Office PowerPoint</Application>
  <PresentationFormat>Custom</PresentationFormat>
  <Paragraphs>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Arimo</vt:lpstr>
      <vt:lpstr>Arial</vt:lpstr>
      <vt:lpstr>Arimo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Slide_XDHTN_Nhom1.pptx</dc:title>
  <cp:lastModifiedBy>Duc Anh ...</cp:lastModifiedBy>
  <cp:revision>3</cp:revision>
  <dcterms:created xsi:type="dcterms:W3CDTF">2006-08-16T00:00:00Z</dcterms:created>
  <dcterms:modified xsi:type="dcterms:W3CDTF">2026-06-25T15:20:34Z</dcterms:modified>
  <dc:identifier>DAHNksmw6tg</dc:identifier>
</cp:coreProperties>
</file>